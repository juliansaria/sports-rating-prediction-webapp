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4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4" r:id="rId14"/>
    <p:sldId id="267" r:id="rId15"/>
    <p:sldId id="268" r:id="rId16"/>
    <p:sldId id="25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13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3553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84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7703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29595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3520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6282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6254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423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59160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9111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ABE2727-E864-4B57-8A34-DA5120A58A16}" type="datetimeFigureOut">
              <a:rPr lang="de-AT" smtClean="0"/>
              <a:t>01.02.2024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8C4155-C029-4DD9-942E-42F6D4179835}" type="slidenum">
              <a:rPr lang="de-AT" smtClean="0"/>
              <a:t>‹Nr.›</a:t>
            </a:fld>
            <a:endParaRPr lang="de-A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4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243BA-474D-5DAA-EAFB-F0AE5D34D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42174"/>
            <a:ext cx="10058400" cy="356616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Intelligent Sports Analytics: A Progressive Web App for Extracting and Evaluating Team Results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57DA41B-96BF-DF1B-45E7-89245AB8E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5202241"/>
            <a:ext cx="10058400" cy="1143000"/>
          </a:xfrm>
        </p:spPr>
        <p:txBody>
          <a:bodyPr/>
          <a:lstStyle/>
          <a:p>
            <a:pPr algn="ctr"/>
            <a:r>
              <a:rPr lang="de-DE" dirty="0"/>
              <a:t>By Julian Saria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2406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F66E57-B0CB-B50F-1569-E068B4649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 fontScale="90000"/>
          </a:bodyPr>
          <a:lstStyle/>
          <a:p>
            <a:r>
              <a:rPr lang="de-DE" sz="3600" dirty="0">
                <a:solidFill>
                  <a:srgbClr val="FFFFFF"/>
                </a:solidFill>
              </a:rPr>
              <a:t>1. Project Definition</a:t>
            </a:r>
            <a:br>
              <a:rPr lang="de-DE" sz="3600" dirty="0">
                <a:solidFill>
                  <a:srgbClr val="FFFFFF"/>
                </a:solidFill>
              </a:rPr>
            </a:br>
            <a:r>
              <a:rPr lang="de-DE" sz="3600" dirty="0">
                <a:solidFill>
                  <a:srgbClr val="FFFFFF"/>
                </a:solidFill>
              </a:rPr>
              <a:t>2. System Architecture</a:t>
            </a:r>
            <a:br>
              <a:rPr lang="de-DE" sz="3600" dirty="0">
                <a:solidFill>
                  <a:srgbClr val="FFFFFF"/>
                </a:solidFill>
              </a:rPr>
            </a:br>
            <a:r>
              <a:rPr lang="de-DE" sz="3600" dirty="0">
                <a:solidFill>
                  <a:srgbClr val="FFFFFF"/>
                </a:solidFill>
              </a:rPr>
              <a:t>3. Rating </a:t>
            </a:r>
            <a:r>
              <a:rPr lang="de-DE" sz="3600" dirty="0" err="1">
                <a:solidFill>
                  <a:srgbClr val="FFFFFF"/>
                </a:solidFill>
              </a:rPr>
              <a:t>Algorithms</a:t>
            </a:r>
            <a:br>
              <a:rPr lang="de-DE" sz="3600" dirty="0">
                <a:solidFill>
                  <a:srgbClr val="FFFFFF"/>
                </a:solidFill>
              </a:rPr>
            </a:br>
            <a:r>
              <a:rPr lang="de-DE" sz="3600" dirty="0">
                <a:solidFill>
                  <a:srgbClr val="FFFFFF"/>
                </a:solidFill>
              </a:rPr>
              <a:t>4. </a:t>
            </a:r>
            <a:r>
              <a:rPr lang="de-DE" sz="3600" dirty="0" err="1">
                <a:solidFill>
                  <a:srgbClr val="FFFFFF"/>
                </a:solidFill>
              </a:rPr>
              <a:t>Prediction</a:t>
            </a:r>
            <a:r>
              <a:rPr lang="de-DE" sz="3600" dirty="0">
                <a:solidFill>
                  <a:srgbClr val="FFFFFF"/>
                </a:solidFill>
              </a:rPr>
              <a:t> </a:t>
            </a:r>
            <a:r>
              <a:rPr lang="de-DE" sz="3600" dirty="0" err="1">
                <a:solidFill>
                  <a:srgbClr val="FFFFFF"/>
                </a:solidFill>
              </a:rPr>
              <a:t>Algorithms</a:t>
            </a:r>
            <a:br>
              <a:rPr lang="de-DE" sz="3600" dirty="0">
                <a:solidFill>
                  <a:srgbClr val="FFFFFF"/>
                </a:solidFill>
              </a:rPr>
            </a:br>
            <a:r>
              <a:rPr lang="de-DE" sz="3600" dirty="0">
                <a:solidFill>
                  <a:srgbClr val="FFFFFF"/>
                </a:solidFill>
              </a:rPr>
              <a:t>5. Draw &amp; Betting </a:t>
            </a:r>
            <a:r>
              <a:rPr lang="de-DE" sz="3600" dirty="0" err="1">
                <a:solidFill>
                  <a:srgbClr val="FFFFFF"/>
                </a:solidFill>
              </a:rPr>
              <a:t>Quotes</a:t>
            </a:r>
            <a:br>
              <a:rPr lang="de-DE" sz="3600" dirty="0">
                <a:solidFill>
                  <a:srgbClr val="FFFFFF"/>
                </a:solidFill>
              </a:rPr>
            </a:br>
            <a:r>
              <a:rPr lang="de-DE" sz="3600" dirty="0">
                <a:solidFill>
                  <a:srgbClr val="FFFFFF"/>
                </a:solidFill>
              </a:rPr>
              <a:t>6. Live Demo</a:t>
            </a:r>
            <a:br>
              <a:rPr lang="de-DE" sz="3600" dirty="0">
                <a:solidFill>
                  <a:srgbClr val="FFFFFF"/>
                </a:solidFill>
              </a:rPr>
            </a:br>
            <a:r>
              <a:rPr lang="de-DE" sz="3600" dirty="0">
                <a:solidFill>
                  <a:srgbClr val="FFFFFF"/>
                </a:solidFill>
              </a:rPr>
              <a:t>7. Q &amp; A </a:t>
            </a:r>
            <a:endParaRPr lang="de-AT" sz="3600" dirty="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734D10-478C-B782-53CF-BE145A993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de-DE" dirty="0"/>
              <a:t>IMAGE OF APP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93D2A30-D12B-3886-14BB-C8909E0C2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225"/>
          <a:stretch/>
        </p:blipFill>
        <p:spPr>
          <a:xfrm>
            <a:off x="4237521" y="360204"/>
            <a:ext cx="7864285" cy="596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8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2752E4-55D6-41C3-D1AD-CEF12531C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500" dirty="0"/>
              <a:t>1. Project Definition</a:t>
            </a:r>
            <a:endParaRPr lang="de-AT" sz="45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0EE156-7C68-7F75-4D66-0C6EAB202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500" dirty="0"/>
              <a:t> provide a Web-User Interface for hockey, table tennis and soccer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 dirty="0"/>
              <a:t> give an overview about three different ratings and predictions of the teams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 dirty="0"/>
              <a:t> option to evaluate past games on the past predicted ratings.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 dirty="0"/>
              <a:t> two main goals: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 dirty="0"/>
              <a:t> predict future games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500" dirty="0"/>
              <a:t> evaluate past games</a:t>
            </a:r>
            <a:endParaRPr lang="de-AT" sz="2500" dirty="0"/>
          </a:p>
        </p:txBody>
      </p:sp>
    </p:spTree>
    <p:extLst>
      <p:ext uri="{BB962C8B-B14F-4D97-AF65-F5344CB8AC3E}">
        <p14:creationId xmlns:p14="http://schemas.microsoft.com/office/powerpoint/2010/main" val="3371608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2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C4F7E42D-8B5A-4FC8-81CD-9E60171F7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16A650-0E29-703F-F235-4EBC0459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35" y="2693923"/>
            <a:ext cx="3352817" cy="15261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500" dirty="0">
                <a:solidFill>
                  <a:srgbClr val="FFFFFF"/>
                </a:solidFill>
              </a:rPr>
              <a:t>2. System </a:t>
            </a:r>
            <a:r>
              <a:rPr lang="en-US" sz="4500" dirty="0" err="1">
                <a:solidFill>
                  <a:srgbClr val="FFFFFF"/>
                </a:solidFill>
              </a:rPr>
              <a:t>Architechture</a:t>
            </a:r>
            <a:endParaRPr lang="en-US" sz="4500" dirty="0">
              <a:solidFill>
                <a:srgbClr val="FFFFFF"/>
              </a:solidFill>
            </a:endParaRPr>
          </a:p>
        </p:txBody>
      </p:sp>
      <p:pic>
        <p:nvPicPr>
          <p:cNvPr id="13" name="Inhaltsplatzhalter 12" descr="Ein Bild, das Text, Diagramm, Plan, technische Zeichnung enthält.&#10;&#10;Automatisch generierte Beschreibung">
            <a:extLst>
              <a:ext uri="{FF2B5EF4-FFF2-40B4-BE49-F238E27FC236}">
                <a16:creationId xmlns:a16="http://schemas.microsoft.com/office/drawing/2014/main" id="{D426A310-1E05-35AC-A4F9-26E967731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658" y="174787"/>
            <a:ext cx="5674554" cy="6508425"/>
          </a:xfrm>
        </p:spPr>
      </p:pic>
      <p:sp>
        <p:nvSpPr>
          <p:cNvPr id="36" name="Rectangle 26">
            <a:extLst>
              <a:ext uri="{FF2B5EF4-FFF2-40B4-BE49-F238E27FC236}">
                <a16:creationId xmlns:a16="http://schemas.microsoft.com/office/drawing/2014/main" id="{8C04651D-B9F4-4935-A02D-364153FBD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9FA7FA1B-E97E-29C4-787F-9F2AA3A563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535"/>
          <a:stretch/>
        </p:blipFill>
        <p:spPr>
          <a:xfrm>
            <a:off x="8636841" y="4806753"/>
            <a:ext cx="3124663" cy="1868358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4F5C4273-25D6-215B-8C5C-3FB53899F1F4}"/>
              </a:ext>
            </a:extLst>
          </p:cNvPr>
          <p:cNvSpPr txBox="1"/>
          <p:nvPr/>
        </p:nvSpPr>
        <p:spPr>
          <a:xfrm>
            <a:off x="9712228" y="4429320"/>
            <a:ext cx="1046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config.js</a:t>
            </a:r>
            <a:endParaRPr lang="de-AT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1E832261-C866-B3B3-1691-46B9558ADC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3579"/>
          <a:stretch/>
        </p:blipFill>
        <p:spPr>
          <a:xfrm>
            <a:off x="8217124" y="182889"/>
            <a:ext cx="3646003" cy="2133600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8DE2C069-7927-236C-66E5-2742A9AD8596}"/>
              </a:ext>
            </a:extLst>
          </p:cNvPr>
          <p:cNvSpPr txBox="1"/>
          <p:nvPr/>
        </p:nvSpPr>
        <p:spPr>
          <a:xfrm>
            <a:off x="8720269" y="2324591"/>
            <a:ext cx="295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insertRatingToDatabase.js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05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C0A308-8FB1-4533-325A-CCBD425AA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500" dirty="0"/>
              <a:t>3.1. Elo Rating</a:t>
            </a:r>
            <a:endParaRPr lang="de-AT" sz="450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4FDBD23-6BB0-A159-89A0-31D2E6C2A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37" y="4000637"/>
            <a:ext cx="6562725" cy="84772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01FC12A-2B8C-52E4-DCBC-A78A2A18F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86" y="5248157"/>
            <a:ext cx="7648575" cy="10668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2F5D5B83-EDDB-E9D3-A45B-41D5D5F46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41" y="4855454"/>
            <a:ext cx="5639739" cy="54246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15DBBFEB-2799-7F00-D982-5909E7D470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698" y="1778008"/>
            <a:ext cx="8956473" cy="233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00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30EB23-3D77-2D68-C414-64DCA419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500" dirty="0"/>
              <a:t>3.2. </a:t>
            </a:r>
            <a:r>
              <a:rPr lang="de-DE" sz="4500" dirty="0" err="1"/>
              <a:t>Win</a:t>
            </a:r>
            <a:r>
              <a:rPr lang="de-DE" sz="4500" dirty="0"/>
              <a:t> </a:t>
            </a:r>
            <a:r>
              <a:rPr lang="de-DE" sz="4500" dirty="0" err="1"/>
              <a:t>Percentage</a:t>
            </a:r>
            <a:r>
              <a:rPr lang="de-DE" sz="4500" dirty="0"/>
              <a:t> Rating </a:t>
            </a:r>
            <a:endParaRPr lang="de-AT" sz="45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717F1C-9620-7CAA-DC1A-8CE2CBCF8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 </a:t>
            </a:r>
            <a:r>
              <a:rPr lang="de-DE" sz="2500" dirty="0" err="1"/>
              <a:t>take</a:t>
            </a:r>
            <a:r>
              <a:rPr lang="de-DE" sz="2500" dirty="0"/>
              <a:t> </a:t>
            </a:r>
            <a:r>
              <a:rPr lang="de-DE" sz="2500" dirty="0" err="1"/>
              <a:t>the</a:t>
            </a:r>
            <a:r>
              <a:rPr lang="de-DE" sz="2500" dirty="0"/>
              <a:t> </a:t>
            </a:r>
            <a:r>
              <a:rPr lang="de-DE" sz="2500" dirty="0" err="1"/>
              <a:t>win</a:t>
            </a:r>
            <a:r>
              <a:rPr lang="de-DE" sz="2500" dirty="0"/>
              <a:t> rate </a:t>
            </a:r>
            <a:r>
              <a:rPr lang="de-DE" sz="2500" dirty="0" err="1"/>
              <a:t>of</a:t>
            </a:r>
            <a:r>
              <a:rPr lang="de-DE" sz="2500" dirty="0"/>
              <a:t> a </a:t>
            </a:r>
            <a:r>
              <a:rPr lang="de-DE" sz="2500" dirty="0" err="1"/>
              <a:t>team</a:t>
            </a:r>
            <a:r>
              <a:rPr lang="de-DE" sz="2500" dirty="0"/>
              <a:t> </a:t>
            </a:r>
            <a:r>
              <a:rPr lang="de-DE" sz="2500" dirty="0" err="1"/>
              <a:t>over</a:t>
            </a:r>
            <a:r>
              <a:rPr lang="de-DE" sz="2500" dirty="0"/>
              <a:t> a </a:t>
            </a:r>
            <a:r>
              <a:rPr lang="de-DE" sz="2500" dirty="0" err="1"/>
              <a:t>specific</a:t>
            </a:r>
            <a:r>
              <a:rPr lang="de-DE" sz="2500" dirty="0"/>
              <a:t> time </a:t>
            </a:r>
            <a:r>
              <a:rPr lang="de-DE" sz="2500" dirty="0" err="1"/>
              <a:t>period</a:t>
            </a:r>
            <a:endParaRPr lang="de-DE" sz="2500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 </a:t>
            </a:r>
            <a:r>
              <a:rPr lang="de-DE" sz="2500" dirty="0" err="1"/>
              <a:t>adjust</a:t>
            </a:r>
            <a:r>
              <a:rPr lang="de-DE" sz="2500" dirty="0"/>
              <a:t> </a:t>
            </a:r>
            <a:r>
              <a:rPr lang="de-DE" sz="2500" dirty="0" err="1"/>
              <a:t>it</a:t>
            </a:r>
            <a:r>
              <a:rPr lang="de-DE" sz="2500" dirty="0"/>
              <a:t> </a:t>
            </a:r>
            <a:r>
              <a:rPr lang="de-DE" sz="2500" dirty="0" err="1"/>
              <a:t>whether</a:t>
            </a:r>
            <a:r>
              <a:rPr lang="de-DE" sz="2500" dirty="0"/>
              <a:t> </a:t>
            </a:r>
            <a:r>
              <a:rPr lang="de-DE" sz="2500" dirty="0" err="1"/>
              <a:t>the</a:t>
            </a:r>
            <a:r>
              <a:rPr lang="de-DE" sz="2500" dirty="0"/>
              <a:t> </a:t>
            </a:r>
            <a:r>
              <a:rPr lang="de-DE" sz="2500" dirty="0" err="1"/>
              <a:t>team</a:t>
            </a:r>
            <a:r>
              <a:rPr lang="de-DE" sz="2500" dirty="0"/>
              <a:t> </a:t>
            </a:r>
            <a:r>
              <a:rPr lang="de-DE" sz="2500" dirty="0" err="1"/>
              <a:t>faced</a:t>
            </a:r>
            <a:r>
              <a:rPr lang="de-DE" sz="2500" dirty="0"/>
              <a:t> „</a:t>
            </a:r>
            <a:r>
              <a:rPr lang="de-DE" sz="2500" dirty="0" err="1"/>
              <a:t>good</a:t>
            </a:r>
            <a:r>
              <a:rPr lang="de-DE" sz="2500" dirty="0"/>
              <a:t>“ </a:t>
            </a:r>
            <a:r>
              <a:rPr lang="de-DE" sz="2500" dirty="0" err="1"/>
              <a:t>or</a:t>
            </a:r>
            <a:r>
              <a:rPr lang="de-DE" sz="2500" dirty="0"/>
              <a:t> „</a:t>
            </a:r>
            <a:r>
              <a:rPr lang="de-DE" sz="2500" dirty="0" err="1"/>
              <a:t>bad</a:t>
            </a:r>
            <a:r>
              <a:rPr lang="de-DE" sz="2500" dirty="0"/>
              <a:t>“ </a:t>
            </a:r>
            <a:r>
              <a:rPr lang="de-DE" sz="2500" dirty="0" err="1"/>
              <a:t>opponents</a:t>
            </a:r>
            <a:r>
              <a:rPr lang="de-DE" sz="25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sz="2500" dirty="0" err="1"/>
              <a:t>Example</a:t>
            </a:r>
            <a:r>
              <a:rPr lang="de-DE" sz="2500" dirty="0"/>
              <a:t> </a:t>
            </a:r>
            <a:r>
              <a:rPr lang="de-DE" sz="2500" dirty="0" err="1"/>
              <a:t>for</a:t>
            </a:r>
            <a:r>
              <a:rPr lang="de-DE" sz="2500" dirty="0"/>
              <a:t> a Team A </a:t>
            </a:r>
            <a:r>
              <a:rPr lang="de-DE" sz="2500" dirty="0" err="1"/>
              <a:t>facing</a:t>
            </a:r>
            <a:r>
              <a:rPr lang="de-DE" sz="2500" dirty="0"/>
              <a:t> 2 different </a:t>
            </a:r>
            <a:r>
              <a:rPr lang="de-DE" sz="2500" dirty="0" err="1"/>
              <a:t>teams</a:t>
            </a:r>
            <a:r>
              <a:rPr lang="de-DE" sz="2500" dirty="0"/>
              <a:t>.</a:t>
            </a:r>
          </a:p>
          <a:p>
            <a:pPr marL="0" indent="0">
              <a:buNone/>
            </a:pPr>
            <a:r>
              <a:rPr lang="de-DE" sz="2500" dirty="0"/>
              <a:t>Team A 2 : 0 Team B</a:t>
            </a:r>
          </a:p>
          <a:p>
            <a:pPr marL="0" indent="0">
              <a:buNone/>
            </a:pPr>
            <a:r>
              <a:rPr lang="de-DE" sz="2500" dirty="0"/>
              <a:t>Team A 0 : 1 Team C</a:t>
            </a:r>
          </a:p>
          <a:p>
            <a:pPr marL="0" indent="0">
              <a:buNone/>
            </a:pPr>
            <a:r>
              <a:rPr lang="de-DE" sz="2500" dirty="0"/>
              <a:t>Team A = 50%                  League Average = 50%                 Team A </a:t>
            </a:r>
            <a:r>
              <a:rPr lang="de-DE" sz="2500" dirty="0" err="1"/>
              <a:t>faced</a:t>
            </a:r>
            <a:endParaRPr lang="de-DE" sz="2500" dirty="0"/>
          </a:p>
          <a:p>
            <a:pPr marL="0" indent="0">
              <a:buNone/>
            </a:pPr>
            <a:r>
              <a:rPr lang="de-DE" sz="2500" dirty="0"/>
              <a:t>Team B = 40%                  Team B = -10%                               Teams -15% </a:t>
            </a:r>
            <a:r>
              <a:rPr lang="de-DE" sz="2500" dirty="0" err="1"/>
              <a:t>below</a:t>
            </a:r>
            <a:r>
              <a:rPr lang="de-DE" sz="2500" dirty="0"/>
              <a:t> </a:t>
            </a:r>
          </a:p>
          <a:p>
            <a:pPr marL="0" indent="0">
              <a:buNone/>
            </a:pPr>
            <a:r>
              <a:rPr lang="de-DE" sz="2500" dirty="0"/>
              <a:t>Team C = 30%                  Team C = -20%                               Team A </a:t>
            </a:r>
            <a:r>
              <a:rPr lang="de-DE" sz="2500" dirty="0" err="1"/>
              <a:t>new</a:t>
            </a:r>
            <a:r>
              <a:rPr lang="de-DE" sz="2500" dirty="0"/>
              <a:t> = 35%</a:t>
            </a:r>
          </a:p>
          <a:p>
            <a:pPr marL="0" indent="0">
              <a:buNone/>
            </a:pPr>
            <a:endParaRPr lang="de-AT" sz="2500" dirty="0"/>
          </a:p>
        </p:txBody>
      </p:sp>
    </p:spTree>
    <p:extLst>
      <p:ext uri="{BB962C8B-B14F-4D97-AF65-F5344CB8AC3E}">
        <p14:creationId xmlns:p14="http://schemas.microsoft.com/office/powerpoint/2010/main" val="8771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C7231A-8BE8-90DC-4C79-0A94F1694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500" dirty="0"/>
              <a:t>3.3. Points </a:t>
            </a:r>
            <a:r>
              <a:rPr lang="de-DE" sz="4500" dirty="0" err="1"/>
              <a:t>Scored</a:t>
            </a:r>
            <a:r>
              <a:rPr lang="de-DE" sz="4500" dirty="0"/>
              <a:t>/Points </a:t>
            </a:r>
            <a:r>
              <a:rPr lang="de-DE" sz="4500" dirty="0" err="1"/>
              <a:t>Allowed</a:t>
            </a:r>
            <a:r>
              <a:rPr lang="de-DE" sz="4500" dirty="0"/>
              <a:t> Rating</a:t>
            </a:r>
            <a:endParaRPr lang="de-AT" sz="45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3DA82A-640B-9BF5-03BA-8E40A9294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Very </a:t>
            </a:r>
            <a:r>
              <a:rPr lang="de-DE" sz="2500" dirty="0" err="1"/>
              <a:t>useful</a:t>
            </a:r>
            <a:r>
              <a:rPr lang="de-DE" sz="2500" dirty="0"/>
              <a:t> </a:t>
            </a:r>
            <a:r>
              <a:rPr lang="de-DE" sz="2500" dirty="0" err="1"/>
              <a:t>measure</a:t>
            </a:r>
            <a:r>
              <a:rPr lang="de-DE" sz="2500" dirty="0"/>
              <a:t> </a:t>
            </a:r>
            <a:r>
              <a:rPr lang="de-DE" sz="2500" dirty="0" err="1"/>
              <a:t>since</a:t>
            </a:r>
            <a:r>
              <a:rPr lang="de-DE" sz="2500" dirty="0"/>
              <a:t> </a:t>
            </a:r>
            <a:r>
              <a:rPr lang="de-DE" sz="2500" dirty="0" err="1"/>
              <a:t>it</a:t>
            </a:r>
            <a:r>
              <a:rPr lang="de-DE" sz="2500" dirty="0"/>
              <a:t> </a:t>
            </a:r>
            <a:r>
              <a:rPr lang="de-DE" sz="2500" dirty="0" err="1"/>
              <a:t>can</a:t>
            </a:r>
            <a:r>
              <a:rPr lang="de-DE" sz="2500" dirty="0"/>
              <a:t> </a:t>
            </a:r>
            <a:r>
              <a:rPr lang="de-DE" sz="2500" dirty="0" err="1"/>
              <a:t>calculate</a:t>
            </a:r>
            <a:r>
              <a:rPr lang="de-DE" sz="2500" dirty="0"/>
              <a:t> </a:t>
            </a:r>
            <a:r>
              <a:rPr lang="de-DE" sz="2500" dirty="0" err="1"/>
              <a:t>win</a:t>
            </a:r>
            <a:r>
              <a:rPr lang="de-DE" sz="2500" dirty="0"/>
              <a:t> </a:t>
            </a:r>
            <a:r>
              <a:rPr lang="de-DE" sz="2500" dirty="0" err="1"/>
              <a:t>rates</a:t>
            </a:r>
            <a:endParaRPr lang="de-DE" sz="2500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total </a:t>
            </a:r>
            <a:r>
              <a:rPr lang="de-DE" sz="2500" dirty="0" err="1"/>
              <a:t>points</a:t>
            </a:r>
            <a:r>
              <a:rPr lang="de-DE" sz="2500" dirty="0"/>
              <a:t> </a:t>
            </a:r>
            <a:r>
              <a:rPr lang="de-DE" sz="2500" dirty="0" err="1"/>
              <a:t>scored</a:t>
            </a:r>
            <a:r>
              <a:rPr lang="de-DE" sz="2500" dirty="0"/>
              <a:t> / </a:t>
            </a:r>
            <a:r>
              <a:rPr lang="de-DE" sz="2500" dirty="0" err="1"/>
              <a:t>points</a:t>
            </a:r>
            <a:r>
              <a:rPr lang="de-DE" sz="2500" dirty="0"/>
              <a:t> </a:t>
            </a:r>
            <a:r>
              <a:rPr lang="de-DE" sz="2500" dirty="0" err="1"/>
              <a:t>allowed</a:t>
            </a:r>
            <a:r>
              <a:rPr lang="de-DE" sz="2500" dirty="0"/>
              <a:t> </a:t>
            </a:r>
            <a:r>
              <a:rPr lang="de-DE" sz="2500" dirty="0" err="1"/>
              <a:t>over</a:t>
            </a:r>
            <a:r>
              <a:rPr lang="de-DE" sz="2500" dirty="0"/>
              <a:t> a time </a:t>
            </a:r>
            <a:r>
              <a:rPr lang="de-DE" sz="2500" dirty="0" err="1"/>
              <a:t>period</a:t>
            </a:r>
            <a:endParaRPr lang="de-DE" sz="2500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 </a:t>
            </a:r>
            <a:r>
              <a:rPr lang="de-DE" sz="2500" dirty="0" err="1"/>
              <a:t>devide</a:t>
            </a:r>
            <a:r>
              <a:rPr lang="de-DE" sz="2500" dirty="0"/>
              <a:t> </a:t>
            </a:r>
            <a:r>
              <a:rPr lang="de-DE" sz="2500" dirty="0" err="1"/>
              <a:t>through</a:t>
            </a:r>
            <a:r>
              <a:rPr lang="de-DE" sz="2500" dirty="0"/>
              <a:t> </a:t>
            </a:r>
            <a:r>
              <a:rPr lang="de-DE" sz="2500" dirty="0" err="1"/>
              <a:t>the</a:t>
            </a:r>
            <a:r>
              <a:rPr lang="de-DE" sz="2500" dirty="0"/>
              <a:t> </a:t>
            </a:r>
            <a:r>
              <a:rPr lang="de-DE" sz="2500" dirty="0" err="1"/>
              <a:t>number</a:t>
            </a:r>
            <a:r>
              <a:rPr lang="de-DE" sz="2500" dirty="0"/>
              <a:t> </a:t>
            </a:r>
            <a:r>
              <a:rPr lang="de-DE" sz="2500" dirty="0" err="1"/>
              <a:t>of</a:t>
            </a:r>
            <a:r>
              <a:rPr lang="de-DE" sz="2500" dirty="0"/>
              <a:t> </a:t>
            </a:r>
            <a:r>
              <a:rPr lang="de-DE" sz="2500" dirty="0" err="1"/>
              <a:t>games</a:t>
            </a:r>
            <a:endParaRPr lang="de-DE" sz="2500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 </a:t>
            </a:r>
            <a:r>
              <a:rPr lang="de-DE" sz="2500" dirty="0" err="1"/>
              <a:t>adjust</a:t>
            </a:r>
            <a:r>
              <a:rPr lang="de-DE" sz="2500" dirty="0"/>
              <a:t> like in </a:t>
            </a:r>
            <a:r>
              <a:rPr lang="de-DE" sz="2500" dirty="0" err="1"/>
              <a:t>win</a:t>
            </a:r>
            <a:r>
              <a:rPr lang="de-DE" sz="2500" dirty="0"/>
              <a:t> </a:t>
            </a:r>
            <a:r>
              <a:rPr lang="de-DE" sz="2500" dirty="0" err="1"/>
              <a:t>percentage</a:t>
            </a:r>
            <a:r>
              <a:rPr lang="de-DE" sz="2500" dirty="0"/>
              <a:t> </a:t>
            </a:r>
            <a:r>
              <a:rPr lang="de-DE" sz="2500" dirty="0" err="1"/>
              <a:t>rating</a:t>
            </a:r>
            <a:endParaRPr lang="de-DE" sz="2500" dirty="0"/>
          </a:p>
          <a:p>
            <a:pPr marL="0" indent="0">
              <a:buNone/>
            </a:pPr>
            <a:r>
              <a:rPr lang="de-DE" sz="2500" dirty="0"/>
              <a:t>Team A 3 : 0 Team B</a:t>
            </a:r>
          </a:p>
          <a:p>
            <a:pPr marL="0" indent="0">
              <a:buNone/>
            </a:pPr>
            <a:r>
              <a:rPr lang="de-DE" sz="2500" dirty="0"/>
              <a:t>Team A 0 : 1 Team C</a:t>
            </a:r>
          </a:p>
          <a:p>
            <a:pPr marL="0" indent="0">
              <a:buNone/>
            </a:pPr>
            <a:r>
              <a:rPr lang="de-DE" sz="2500" dirty="0"/>
              <a:t>Team A PS/G = 1.5</a:t>
            </a:r>
          </a:p>
          <a:p>
            <a:pPr marL="0" indent="0">
              <a:buNone/>
            </a:pPr>
            <a:r>
              <a:rPr lang="de-DE" sz="2500" dirty="0"/>
              <a:t>Team A PA/G = 0.5</a:t>
            </a:r>
            <a:endParaRPr lang="de-AT" sz="2500" dirty="0"/>
          </a:p>
        </p:txBody>
      </p:sp>
    </p:spTree>
    <p:extLst>
      <p:ext uri="{BB962C8B-B14F-4D97-AF65-F5344CB8AC3E}">
        <p14:creationId xmlns:p14="http://schemas.microsoft.com/office/powerpoint/2010/main" val="961120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C7A85-1980-5828-3F86-DF3F23E41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4.1 Elo </a:t>
            </a:r>
            <a:r>
              <a:rPr lang="de-DE" dirty="0" err="1"/>
              <a:t>Prediction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580B11-662E-1DA0-AD01-4FC8EA03C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de-DE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  <a:p>
            <a:r>
              <a:rPr lang="de-AT" sz="3600" dirty="0"/>
              <a:t>                                                                             </a:t>
            </a:r>
            <a:r>
              <a:rPr lang="de-AT" sz="3600" dirty="0" err="1"/>
              <a:t>spread</a:t>
            </a:r>
            <a:r>
              <a:rPr lang="de-AT" sz="3600" dirty="0"/>
              <a:t> = 100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B0B2080-29CA-6AEB-0FF4-FD5BB8024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640" y="1940156"/>
            <a:ext cx="3590925" cy="225742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AF25765-72D4-AEE2-6269-0822D1430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154" y="4066550"/>
            <a:ext cx="5124450" cy="193357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15F4109-C4CA-2FA6-A86B-7C305EC30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610" y="1737360"/>
            <a:ext cx="4584840" cy="304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0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0D0EF-1911-1351-167D-0C0BCDD8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4.2 </a:t>
            </a:r>
            <a:r>
              <a:rPr lang="de-DE" dirty="0" err="1"/>
              <a:t>Win</a:t>
            </a:r>
            <a:r>
              <a:rPr lang="de-DE" dirty="0"/>
              <a:t> </a:t>
            </a:r>
            <a:r>
              <a:rPr lang="de-DE" dirty="0" err="1"/>
              <a:t>Percentage</a:t>
            </a:r>
            <a:r>
              <a:rPr lang="de-DE" dirty="0"/>
              <a:t> </a:t>
            </a:r>
            <a:r>
              <a:rPr lang="de-DE" dirty="0" err="1"/>
              <a:t>Prediction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8203F5-3BA6-F4A5-791A-BED89C5EE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teams</a:t>
            </a:r>
            <a:r>
              <a:rPr lang="de-DE" dirty="0"/>
              <a:t> </a:t>
            </a:r>
            <a:r>
              <a:rPr lang="de-DE" dirty="0" err="1"/>
              <a:t>win</a:t>
            </a:r>
            <a:r>
              <a:rPr lang="de-DE" dirty="0"/>
              <a:t> </a:t>
            </a:r>
            <a:r>
              <a:rPr lang="de-DE" dirty="0" err="1"/>
              <a:t>percentage</a:t>
            </a:r>
            <a:r>
              <a:rPr lang="de-DE" dirty="0"/>
              <a:t> </a:t>
            </a:r>
            <a:r>
              <a:rPr lang="de-DE" dirty="0" err="1"/>
              <a:t>rating</a:t>
            </a:r>
            <a:endParaRPr lang="de-DE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dirty="0" err="1"/>
              <a:t>Evenly</a:t>
            </a:r>
            <a:r>
              <a:rPr lang="de-DE" dirty="0"/>
              <a:t> </a:t>
            </a:r>
            <a:r>
              <a:rPr lang="de-DE" dirty="0" err="1"/>
              <a:t>distrubute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around</a:t>
            </a:r>
            <a:r>
              <a:rPr lang="de-DE" dirty="0"/>
              <a:t> 50%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&gt;50 </a:t>
            </a:r>
            <a:r>
              <a:rPr lang="de-DE" dirty="0" err="1"/>
              <a:t>threshold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dirty="0" err="1"/>
              <a:t>Example</a:t>
            </a:r>
            <a:r>
              <a:rPr lang="de-DE" dirty="0"/>
              <a:t>:</a:t>
            </a:r>
          </a:p>
          <a:p>
            <a:r>
              <a:rPr lang="de-DE" dirty="0"/>
              <a:t>Team A = 70%</a:t>
            </a:r>
          </a:p>
          <a:p>
            <a:r>
              <a:rPr lang="de-DE" dirty="0"/>
              <a:t>Team B = 50%</a:t>
            </a:r>
          </a:p>
          <a:p>
            <a:r>
              <a:rPr lang="de-DE" dirty="0"/>
              <a:t>Diff = 20%</a:t>
            </a:r>
          </a:p>
          <a:p>
            <a:r>
              <a:rPr lang="de-DE" dirty="0"/>
              <a:t>Team A 70% : 30% Team B 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33101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11DD9B-D225-9DB5-E1AF-FBD976A5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500" dirty="0"/>
              <a:t>4.3. Points </a:t>
            </a:r>
            <a:r>
              <a:rPr lang="de-DE" sz="4500" dirty="0" err="1"/>
              <a:t>Scored</a:t>
            </a:r>
            <a:r>
              <a:rPr lang="de-DE" sz="4500" dirty="0"/>
              <a:t>/Points </a:t>
            </a:r>
            <a:r>
              <a:rPr lang="de-DE" sz="4500" dirty="0" err="1"/>
              <a:t>Allowed</a:t>
            </a:r>
            <a:r>
              <a:rPr lang="de-DE" sz="4500" dirty="0"/>
              <a:t> </a:t>
            </a:r>
            <a:r>
              <a:rPr lang="de-DE" sz="4500" dirty="0" err="1"/>
              <a:t>Prediction</a:t>
            </a:r>
            <a:endParaRPr lang="de-AT" sz="45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7CBD02-E1A0-1DA0-C2CA-46C60CFC1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sz="2500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sz="2500" dirty="0" err="1"/>
              <a:t>Pythagorean</a:t>
            </a:r>
            <a:r>
              <a:rPr lang="de-DE" sz="2500" dirty="0"/>
              <a:t> </a:t>
            </a:r>
            <a:r>
              <a:rPr lang="de-DE" sz="2500" dirty="0" err="1"/>
              <a:t>Win</a:t>
            </a:r>
            <a:r>
              <a:rPr lang="de-DE" sz="2500" dirty="0"/>
              <a:t> </a:t>
            </a:r>
            <a:r>
              <a:rPr lang="de-DE" sz="2500" dirty="0" err="1"/>
              <a:t>Expectancy</a:t>
            </a:r>
            <a:endParaRPr lang="de-DE" sz="2500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Exponent </a:t>
            </a:r>
            <a:r>
              <a:rPr lang="de-DE" sz="2500" dirty="0" err="1"/>
              <a:t>depends</a:t>
            </a:r>
            <a:r>
              <a:rPr lang="de-DE" sz="2500" dirty="0"/>
              <a:t> on </a:t>
            </a:r>
            <a:r>
              <a:rPr lang="de-DE" sz="2500" dirty="0" err="1"/>
              <a:t>goals</a:t>
            </a:r>
            <a:endParaRPr lang="de-DE" sz="2500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Log5 </a:t>
            </a:r>
            <a:r>
              <a:rPr lang="de-DE" sz="2500" dirty="0" err="1"/>
              <a:t>Win</a:t>
            </a:r>
            <a:r>
              <a:rPr lang="de-DE" sz="2500" dirty="0"/>
              <a:t> </a:t>
            </a:r>
            <a:r>
              <a:rPr lang="de-DE" sz="2500" dirty="0" err="1"/>
              <a:t>Probability</a:t>
            </a:r>
            <a:endParaRPr lang="de-AT" sz="25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3207783-E23B-F440-A9A4-A7490914F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780" y="1737360"/>
            <a:ext cx="5676900" cy="151447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174D39A-D953-0CA6-0160-C9F5326E8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939" y="3848671"/>
            <a:ext cx="8729721" cy="212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90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DA625EA9-D367-14F7-E8C3-76FD7C1B9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352" y="3239577"/>
            <a:ext cx="3025296" cy="194791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D92F147-063B-288F-078F-77F37ABD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5. Draw &amp; Betting </a:t>
            </a:r>
            <a:r>
              <a:rPr lang="de-DE" dirty="0" err="1"/>
              <a:t>Quotes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B2349B-4749-025D-540A-4055495C3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 </a:t>
            </a:r>
            <a:r>
              <a:rPr lang="de-DE" sz="2500" dirty="0" err="1"/>
              <a:t>results</a:t>
            </a:r>
            <a:r>
              <a:rPr lang="de-DE" sz="2500" dirty="0"/>
              <a:t> </a:t>
            </a:r>
            <a:r>
              <a:rPr lang="de-DE" sz="2500" dirty="0" err="1"/>
              <a:t>are</a:t>
            </a:r>
            <a:r>
              <a:rPr lang="de-DE" sz="2500" dirty="0"/>
              <a:t> not </a:t>
            </a:r>
            <a:r>
              <a:rPr lang="de-DE" sz="2500" dirty="0" err="1"/>
              <a:t>binary</a:t>
            </a:r>
            <a:endParaRPr lang="de-DE" sz="2500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 </a:t>
            </a:r>
            <a:r>
              <a:rPr lang="de-DE" sz="2500" dirty="0" err="1"/>
              <a:t>possibility</a:t>
            </a:r>
            <a:r>
              <a:rPr lang="de-DE" sz="2500" dirty="0"/>
              <a:t> </a:t>
            </a:r>
            <a:r>
              <a:rPr lang="de-DE" sz="2500" dirty="0" err="1"/>
              <a:t>of</a:t>
            </a:r>
            <a:r>
              <a:rPr lang="de-DE" sz="2500" dirty="0"/>
              <a:t> a </a:t>
            </a:r>
            <a:r>
              <a:rPr lang="de-DE" sz="2500" dirty="0" err="1"/>
              <a:t>draw</a:t>
            </a:r>
            <a:endParaRPr lang="de-DE" sz="2500" dirty="0"/>
          </a:p>
          <a:p>
            <a:pPr>
              <a:buFont typeface="Wingdings" panose="05000000000000000000" pitchFamily="2" charset="2"/>
              <a:buChar char="§"/>
            </a:pPr>
            <a:r>
              <a:rPr lang="de-DE" sz="2500" dirty="0"/>
              <a:t> </a:t>
            </a:r>
            <a:r>
              <a:rPr lang="de-DE" sz="2500" dirty="0" err="1"/>
              <a:t>draw</a:t>
            </a:r>
            <a:r>
              <a:rPr lang="de-DE" sz="2500" dirty="0"/>
              <a:t> </a:t>
            </a:r>
            <a:r>
              <a:rPr lang="de-DE" sz="2500" dirty="0" err="1"/>
              <a:t>more</a:t>
            </a:r>
            <a:r>
              <a:rPr lang="de-DE" sz="2500" dirty="0"/>
              <a:t> </a:t>
            </a:r>
            <a:r>
              <a:rPr lang="de-DE" sz="2500" dirty="0" err="1"/>
              <a:t>likely</a:t>
            </a:r>
            <a:r>
              <a:rPr lang="de-DE" sz="2500" dirty="0"/>
              <a:t> </a:t>
            </a:r>
            <a:r>
              <a:rPr lang="de-DE" sz="2500" dirty="0" err="1"/>
              <a:t>the</a:t>
            </a:r>
            <a:r>
              <a:rPr lang="de-DE" sz="2500" dirty="0"/>
              <a:t> </a:t>
            </a:r>
            <a:r>
              <a:rPr lang="de-DE" sz="2500" dirty="0" err="1"/>
              <a:t>more</a:t>
            </a:r>
            <a:r>
              <a:rPr lang="de-DE" sz="2500" dirty="0"/>
              <a:t> </a:t>
            </a:r>
            <a:r>
              <a:rPr lang="de-DE" sz="2500" dirty="0" err="1"/>
              <a:t>evenly</a:t>
            </a:r>
            <a:r>
              <a:rPr lang="de-DE" sz="2500" dirty="0"/>
              <a:t> </a:t>
            </a:r>
            <a:r>
              <a:rPr lang="de-DE" sz="2500" dirty="0" err="1"/>
              <a:t>teams</a:t>
            </a:r>
            <a:r>
              <a:rPr lang="de-DE" sz="2500" dirty="0"/>
              <a:t> </a:t>
            </a:r>
            <a:r>
              <a:rPr lang="de-DE" sz="2500" dirty="0" err="1"/>
              <a:t>are</a:t>
            </a:r>
            <a:r>
              <a:rPr lang="de-DE" sz="2500" dirty="0"/>
              <a:t> </a:t>
            </a:r>
            <a:r>
              <a:rPr lang="de-DE" sz="2500" dirty="0" err="1"/>
              <a:t>matched</a:t>
            </a:r>
            <a:endParaRPr lang="de-DE" sz="2500" dirty="0"/>
          </a:p>
          <a:p>
            <a:pPr marL="0" indent="0">
              <a:buNone/>
            </a:pP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BCD9E9-327B-8515-DAE1-217E2BE3B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959" y="3369906"/>
            <a:ext cx="4210050" cy="10668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306A75E-0BA6-4C86-E4C0-2BD4BEABA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4929" y="4466131"/>
            <a:ext cx="1552575" cy="3429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7BDAB34-BBD4-0F0A-2776-5D14D1577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7484" y="4842368"/>
            <a:ext cx="4200525" cy="138112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D8FD9778-1EA3-D3D8-8ECE-6008124FED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8009" y="5273531"/>
            <a:ext cx="54578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29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Ein Bild, das Blau, Muster, Electric Blue (Farbe), Licht enthält.&#10;&#10;Automatisch generierte Beschreibung">
            <a:extLst>
              <a:ext uri="{FF2B5EF4-FFF2-40B4-BE49-F238E27FC236}">
                <a16:creationId xmlns:a16="http://schemas.microsoft.com/office/drawing/2014/main" id="{1210D752-9DCE-99B0-B92F-13DFA3C757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46" b="16258"/>
          <a:stretch/>
        </p:blipFill>
        <p:spPr>
          <a:xfrm>
            <a:off x="-32" y="10"/>
            <a:ext cx="12192031" cy="491506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6D919A-FC3E-4B4E-BAF0-ED6CFB8DC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609E0C1-4A83-210A-4413-C5519D20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6. Live Demo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66ACBD-1C82-4782-AA7C-05504DD7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6673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BF87B883-E6F4-9D3D-10E3-A90DB6BD3D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929" b="9402"/>
          <a:stretch/>
        </p:blipFill>
        <p:spPr>
          <a:xfrm>
            <a:off x="-32" y="10"/>
            <a:ext cx="12192031" cy="491506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6D919A-FC3E-4B4E-BAF0-ED6CFB8DC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AB5574-48FF-3DDB-AF37-03E6B294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7. Q &amp; 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66ACBD-1C82-4782-AA7C-05504DD7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0119237"/>
      </p:ext>
    </p:extLst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2B7AC1D785DE49AC3456084D416DA2" ma:contentTypeVersion="4" ma:contentTypeDescription="Create a new document." ma:contentTypeScope="" ma:versionID="814ea4ffa83063c8bf5a9e7255bc39ce">
  <xsd:schema xmlns:xsd="http://www.w3.org/2001/XMLSchema" xmlns:xs="http://www.w3.org/2001/XMLSchema" xmlns:p="http://schemas.microsoft.com/office/2006/metadata/properties" xmlns:ns3="ea5741b4-ffd8-423c-95b7-289926f1b18b" targetNamespace="http://schemas.microsoft.com/office/2006/metadata/properties" ma:root="true" ma:fieldsID="29bf500aed293d98d023afd3fb9f022e" ns3:_="">
    <xsd:import namespace="ea5741b4-ffd8-423c-95b7-289926f1b18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5741b4-ffd8-423c-95b7-289926f1b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0399432-03CE-4740-9BD8-525D976C3F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5741b4-ffd8-423c-95b7-289926f1b1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6FCAF1-ABDE-4E61-A280-72B8772CC1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0916C3-8443-4AE0-8DEE-9A2E10F6721E}">
  <ds:schemaRefs>
    <ds:schemaRef ds:uri="http://schemas.microsoft.com/office/2006/documentManagement/types"/>
    <ds:schemaRef ds:uri="ea5741b4-ffd8-423c-95b7-289926f1b18b"/>
    <ds:schemaRef ds:uri="http://purl.org/dc/elements/1.1/"/>
    <ds:schemaRef ds:uri="http://schemas.microsoft.com/office/infopath/2007/PartnerControls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406</Words>
  <Application>Microsoft Office PowerPoint</Application>
  <PresentationFormat>Breitbild</PresentationFormat>
  <Paragraphs>66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Wingdings</vt:lpstr>
      <vt:lpstr>Rückblick</vt:lpstr>
      <vt:lpstr>Intelligent Sports Analytics: A Progressive Web App for Extracting and Evaluating Team Results</vt:lpstr>
      <vt:lpstr>1. Project Definition 2. System Architecture 3. Rating Algorithms 4. Prediction Algorithms 5. Draw &amp; Betting Quotes 6. Live Demo 7. Q &amp; A </vt:lpstr>
      <vt:lpstr>1. Project Definition</vt:lpstr>
      <vt:lpstr>2. System Architechture</vt:lpstr>
      <vt:lpstr>3.1. Elo Rating</vt:lpstr>
      <vt:lpstr>3.2. Win Percentage Rating </vt:lpstr>
      <vt:lpstr>3.3. Points Scored/Points Allowed Rating</vt:lpstr>
      <vt:lpstr>4.1 Elo Prediction</vt:lpstr>
      <vt:lpstr>4.2 Win Percentage Prediction</vt:lpstr>
      <vt:lpstr>4.3. Points Scored/Points Allowed Prediction</vt:lpstr>
      <vt:lpstr>5. Draw &amp; Betting Quotes</vt:lpstr>
      <vt:lpstr>6. Live Demo</vt:lpstr>
      <vt:lpstr>7. 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Sports Analytics: A Progressive Web App for Extracting and Evaluating Team Results</dc:title>
  <dc:creator>jokpxtb_py@univie.onmicrosoft.com</dc:creator>
  <cp:lastModifiedBy>jokpxtb_py@univie.onmicrosoft.com</cp:lastModifiedBy>
  <cp:revision>1</cp:revision>
  <dcterms:created xsi:type="dcterms:W3CDTF">2024-02-01T10:40:38Z</dcterms:created>
  <dcterms:modified xsi:type="dcterms:W3CDTF">2024-02-01T21:10:18Z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0x010100E92B7AC1D785DE49AC3456084D416DA2</vt:lpwstr>
  </property>
</Properties>
</file>